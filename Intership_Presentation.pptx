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6230600" cy="9144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E28507-FC72-4770-BEC9-C45822287B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83970A-8962-46CB-BC58-78011266D01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811440" y="364680"/>
            <a:ext cx="1460700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Double-tap to edit the title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811440" y="2139480"/>
            <a:ext cx="1460700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Double-tap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"/>
          <p:cNvPicPr/>
          <p:nvPr/>
        </p:nvPicPr>
        <p:blipFill>
          <a:blip r:embed="rId1"/>
          <a:stretch/>
        </p:blipFill>
        <p:spPr>
          <a:xfrm>
            <a:off x="-101520" y="-76320"/>
            <a:ext cx="16458840" cy="937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Picture 3" descr=""/>
          <p:cNvPicPr/>
          <p:nvPr/>
        </p:nvPicPr>
        <p:blipFill>
          <a:blip r:embed="rId2"/>
          <a:stretch/>
        </p:blipFill>
        <p:spPr>
          <a:xfrm>
            <a:off x="-25560" y="-25560"/>
            <a:ext cx="16306560" cy="919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AutoShape 4"/>
          <p:cNvSpPr/>
          <p:nvPr/>
        </p:nvSpPr>
        <p:spPr>
          <a:xfrm>
            <a:off x="444600" y="254160"/>
            <a:ext cx="3619080" cy="1206000"/>
          </a:xfrm>
          <a:prstGeom prst="rect">
            <a:avLst/>
          </a:prstGeom>
          <a:solidFill>
            <a:srgbClr val="f2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" name="Picture 5" descr=""/>
          <p:cNvPicPr/>
          <p:nvPr/>
        </p:nvPicPr>
        <p:blipFill>
          <a:blip r:embed="rId3"/>
          <a:stretch/>
        </p:blipFill>
        <p:spPr>
          <a:xfrm>
            <a:off x="1567800" y="471960"/>
            <a:ext cx="12936240" cy="245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TextBox 7"/>
          <p:cNvSpPr/>
          <p:nvPr/>
        </p:nvSpPr>
        <p:spPr>
          <a:xfrm>
            <a:off x="965160" y="8664120"/>
            <a:ext cx="353664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361"/>
              </a:lnSpc>
              <a:tabLst>
                <a:tab algn="l" pos="0"/>
              </a:tabLst>
            </a:pPr>
            <a:r>
              <a:rPr b="0" lang="en" sz="1150" spc="-9" strike="noStrike" u="none">
                <a:solidFill>
                  <a:srgbClr val="2166aa"/>
                </a:solidFill>
                <a:uFillTx/>
                <a:latin typeface="Times New Roman"/>
              </a:rPr>
              <a:t>Vineet Singh | CodSoft Frontend Development Internship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TextBox 8"/>
          <p:cNvSpPr/>
          <p:nvPr/>
        </p:nvSpPr>
        <p:spPr>
          <a:xfrm>
            <a:off x="4838040" y="3474000"/>
            <a:ext cx="6654600" cy="48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marL="1689120" defTabSz="914400">
              <a:lnSpc>
                <a:spcPts val="4090"/>
              </a:lnSpc>
              <a:tabLst>
                <a:tab algn="l" pos="0"/>
              </a:tabLst>
            </a:pPr>
            <a:r>
              <a:rPr b="0" lang="en" sz="3450" spc="-85" strike="noStrike" u="none">
                <a:solidFill>
                  <a:srgbClr val="162746"/>
                </a:solidFill>
                <a:uFillTx/>
                <a:latin typeface="Times New Roman"/>
              </a:rPr>
              <a:t>IILM UNIVERSITY</a:t>
            </a:r>
            <a:endParaRPr b="0" lang="en-US" sz="34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 defTabSz="914400">
              <a:lnSpc>
                <a:spcPct val="100000"/>
              </a:lnSpc>
              <a:spcBef>
                <a:spcPts val="2580"/>
              </a:spcBef>
              <a:tabLst>
                <a:tab algn="l" pos="0"/>
              </a:tabLst>
            </a:pPr>
            <a:r>
              <a:rPr b="0" lang="en-US" sz="4150" spc="-102" strike="noStrike" u="none">
                <a:solidFill>
                  <a:srgbClr val="162746"/>
                </a:solidFill>
                <a:uFillTx/>
                <a:latin typeface="Times New Roman"/>
              </a:rPr>
              <a:t>INTERNSHIP PRESENTATION</a:t>
            </a:r>
            <a:endParaRPr b="0" lang="en-US" sz="41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3521"/>
              </a:lnSpc>
              <a:spcBef>
                <a:spcPts val="1789"/>
              </a:spcBef>
              <a:tabLst>
                <a:tab algn="l" pos="0"/>
              </a:tabLst>
            </a:pPr>
            <a:r>
              <a:rPr b="0" lang="en-US" sz="3000" spc="-74" strike="noStrike" u="none">
                <a:solidFill>
                  <a:srgbClr val="2166aa"/>
                </a:solidFill>
                <a:uFillTx/>
                <a:latin typeface="Times New Roman"/>
              </a:rPr>
              <a:t>FRONTEND DEVELOPMENT INTERNSHIP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930320" defTabSz="914400">
              <a:lnSpc>
                <a:spcPct val="100000"/>
              </a:lnSpc>
              <a:spcBef>
                <a:spcPts val="4309"/>
              </a:spcBef>
              <a:tabLst>
                <a:tab algn="l" pos="0"/>
              </a:tabLst>
            </a:pPr>
            <a:r>
              <a:rPr b="0" lang="en-US" sz="2300" spc="-20" strike="noStrike" u="none">
                <a:solidFill>
                  <a:srgbClr val="232328"/>
                </a:solidFill>
                <a:uFillTx/>
                <a:latin typeface="Times New Roman"/>
              </a:rPr>
              <a:t>Organization: CodSoft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01720" defTabSz="914400">
              <a:lnSpc>
                <a:spcPct val="100000"/>
              </a:lnSpc>
              <a:spcBef>
                <a:spcPts val="4039"/>
              </a:spcBef>
              <a:tabLst>
                <a:tab algn="l" pos="0"/>
              </a:tabLst>
            </a:pPr>
            <a:r>
              <a:rPr b="0" lang="en-US" sz="2000" spc="-51" strike="noStrike" u="none">
                <a:solidFill>
                  <a:srgbClr val="232328"/>
                </a:solidFill>
                <a:uFillTx/>
                <a:latin typeface="Times New Roman"/>
              </a:rPr>
              <a:t>Presented by: VINEET SINGH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333440" defTabSz="914400">
              <a:lnSpc>
                <a:spcPct val="100000"/>
              </a:lnSpc>
              <a:spcBef>
                <a:spcPts val="111"/>
              </a:spcBef>
              <a:tabLst>
                <a:tab algn="l" pos="0"/>
              </a:tabLst>
            </a:pPr>
            <a:r>
              <a:rPr b="0" lang="en-US" sz="2000" spc="51" strike="noStrike" u="none">
                <a:solidFill>
                  <a:srgbClr val="232328"/>
                </a:solidFill>
                <a:uFillTx/>
                <a:latin typeface="Times New Roman"/>
              </a:rPr>
              <a:t>Enrollment No.: 25SCS1003005351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62120" defTabSz="914400">
              <a:lnSpc>
                <a:spcPct val="100000"/>
              </a:lnSpc>
              <a:spcBef>
                <a:spcPts val="111"/>
              </a:spcBef>
              <a:tabLst>
                <a:tab algn="l" pos="0"/>
              </a:tabLst>
            </a:pPr>
            <a:r>
              <a:rPr b="0" lang="en-US" sz="2000" spc="51" strike="noStrike" u="none">
                <a:solidFill>
                  <a:srgbClr val="232328"/>
                </a:solidFill>
                <a:uFillTx/>
                <a:latin typeface="Times New Roman"/>
              </a:rPr>
              <a:t>B.Tech CSE – 3rd Semester | Section: 2CSE35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349360" defTabSz="914400">
              <a:lnSpc>
                <a:spcPct val="100000"/>
              </a:lnSpc>
              <a:spcBef>
                <a:spcPts val="111"/>
              </a:spcBef>
              <a:tabLst>
                <a:tab algn="l" pos="0"/>
              </a:tabLst>
            </a:pPr>
            <a:r>
              <a:rPr b="0" lang="en-US" sz="2000" spc="51" strike="noStrike" u="none">
                <a:solidFill>
                  <a:srgbClr val="232328"/>
                </a:solidFill>
                <a:uFillTx/>
                <a:latin typeface="Times New Roman"/>
              </a:rPr>
              <a:t>Session: 2025-29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"/>
          <p:cNvPicPr/>
          <p:nvPr/>
        </p:nvPicPr>
        <p:blipFill>
          <a:blip r:embed="rId1"/>
          <a:stretch/>
        </p:blipFill>
        <p:spPr>
          <a:xfrm>
            <a:off x="-101520" y="-76320"/>
            <a:ext cx="16458840" cy="937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Picture 3" descr=""/>
          <p:cNvPicPr/>
          <p:nvPr/>
        </p:nvPicPr>
        <p:blipFill>
          <a:blip r:embed="rId2"/>
          <a:stretch/>
        </p:blipFill>
        <p:spPr>
          <a:xfrm>
            <a:off x="-25560" y="-25560"/>
            <a:ext cx="16306560" cy="919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TextBox 4"/>
          <p:cNvSpPr/>
          <p:nvPr/>
        </p:nvSpPr>
        <p:spPr>
          <a:xfrm>
            <a:off x="965160" y="529560"/>
            <a:ext cx="9861120" cy="83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3550" spc="-20" strike="noStrike" u="none">
                <a:solidFill>
                  <a:srgbClr val="162746"/>
                </a:solidFill>
                <a:uFillTx/>
                <a:latin typeface="Times New Roman"/>
              </a:rPr>
              <a:t>Internship Overview</a:t>
            </a:r>
            <a:endParaRPr b="0" lang="en-US" sz="35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5791"/>
              </a:spcBef>
              <a:tabLst>
                <a:tab algn="l" pos="0"/>
              </a:tabLst>
            </a:pPr>
            <a:r>
              <a:rPr b="0" lang="en-US" sz="2600" spc="-65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65" strike="noStrike" u="none">
                <a:solidFill>
                  <a:srgbClr val="232328"/>
                </a:solidFill>
                <a:uFillTx/>
                <a:latin typeface="Times New Roman"/>
              </a:rPr>
              <a:t>Organization: CodSoft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-65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65" strike="noStrike" u="none">
                <a:solidFill>
                  <a:srgbClr val="232328"/>
                </a:solidFill>
                <a:uFillTx/>
                <a:latin typeface="Times New Roman"/>
              </a:rPr>
              <a:t>Role: Frontend Development Intern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-65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65" strike="noStrike" u="none">
                <a:solidFill>
                  <a:srgbClr val="232328"/>
                </a:solidFill>
                <a:uFillTx/>
                <a:latin typeface="Times New Roman"/>
              </a:rPr>
              <a:t>Mode: Virtual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trike="noStrike" u="none">
                <a:solidFill>
                  <a:srgbClr val="232328"/>
                </a:solidFill>
                <a:uFillTx/>
                <a:latin typeface="Times New Roman"/>
              </a:rPr>
              <a:t>Duration: 01 August 2026 – 31 August 2026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-3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3" strike="noStrike" u="none">
                <a:solidFill>
                  <a:srgbClr val="232328"/>
                </a:solidFill>
                <a:uFillTx/>
                <a:latin typeface="Times New Roman"/>
              </a:rPr>
              <a:t>Focus: Practical frontend development through task-based projects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61"/>
              </a:lnSpc>
              <a:spcBef>
                <a:spcPts val="33778"/>
              </a:spcBef>
              <a:tabLst>
                <a:tab algn="l" pos="0"/>
              </a:tabLst>
            </a:pPr>
            <a:r>
              <a:rPr b="0" lang="en-US" sz="1150" spc="-9" strike="noStrike" u="none">
                <a:solidFill>
                  <a:srgbClr val="2166aa"/>
                </a:solidFill>
                <a:uFillTx/>
                <a:latin typeface="Times New Roman"/>
              </a:rPr>
              <a:t>Vineet Singh | CodSoft Frontend Development Internship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"/>
          <p:cNvPicPr/>
          <p:nvPr/>
        </p:nvPicPr>
        <p:blipFill>
          <a:blip r:embed="rId1"/>
          <a:stretch/>
        </p:blipFill>
        <p:spPr>
          <a:xfrm>
            <a:off x="-101520" y="-76320"/>
            <a:ext cx="16458840" cy="937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Picture 3" descr=""/>
          <p:cNvPicPr/>
          <p:nvPr/>
        </p:nvPicPr>
        <p:blipFill>
          <a:blip r:embed="rId2"/>
          <a:stretch/>
        </p:blipFill>
        <p:spPr>
          <a:xfrm>
            <a:off x="-25560" y="-25560"/>
            <a:ext cx="16306560" cy="919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TextBox 4"/>
          <p:cNvSpPr/>
          <p:nvPr/>
        </p:nvSpPr>
        <p:spPr>
          <a:xfrm>
            <a:off x="965160" y="529560"/>
            <a:ext cx="11517120" cy="83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3550" spc="-28" strike="noStrike" u="none">
                <a:solidFill>
                  <a:srgbClr val="162746"/>
                </a:solidFill>
                <a:uFillTx/>
                <a:latin typeface="Times New Roman"/>
              </a:rPr>
              <a:t>About the Internship</a:t>
            </a:r>
            <a:endParaRPr b="0" lang="en-US" sz="35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5791"/>
              </a:spcBef>
              <a:tabLst>
                <a:tab algn="l" pos="0"/>
              </a:tabLst>
            </a:pPr>
            <a:r>
              <a:rPr b="0" lang="en-US" sz="2600" spc="-11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11" strike="noStrike" u="none">
                <a:solidFill>
                  <a:srgbClr val="232328"/>
                </a:solidFill>
                <a:uFillTx/>
                <a:latin typeface="Times New Roman"/>
              </a:rPr>
              <a:t>The internship provided practical exposure to frontend web development.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-14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14" strike="noStrike" u="none">
                <a:solidFill>
                  <a:srgbClr val="232328"/>
                </a:solidFill>
                <a:uFillTx/>
                <a:latin typeface="Times New Roman"/>
              </a:rPr>
              <a:t>The work focused on learning, skill development and hands-on implementation.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17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17" strike="noStrike" u="none">
                <a:solidFill>
                  <a:srgbClr val="232328"/>
                </a:solidFill>
                <a:uFillTx/>
                <a:latin typeface="Times New Roman"/>
              </a:rPr>
              <a:t>Projects were developed as client-side web applications.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3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3" strike="noStrike" u="none">
                <a:solidFill>
                  <a:srgbClr val="232328"/>
                </a:solidFill>
                <a:uFillTx/>
                <a:latin typeface="Times New Roman"/>
              </a:rPr>
              <a:t>Three frontend projects were completed and demonstrated.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61"/>
              </a:lnSpc>
              <a:spcBef>
                <a:spcPts val="38078"/>
              </a:spcBef>
              <a:tabLst>
                <a:tab algn="l" pos="0"/>
              </a:tabLst>
            </a:pPr>
            <a:r>
              <a:rPr b="0" lang="en-US" sz="1150" spc="-9" strike="noStrike" u="none">
                <a:solidFill>
                  <a:srgbClr val="2166aa"/>
                </a:solidFill>
                <a:uFillTx/>
                <a:latin typeface="Times New Roman"/>
              </a:rPr>
              <a:t>Vineet Singh | CodSoft Frontend Development Internship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"/>
          <p:cNvPicPr/>
          <p:nvPr/>
        </p:nvPicPr>
        <p:blipFill>
          <a:blip r:embed="rId1"/>
          <a:stretch/>
        </p:blipFill>
        <p:spPr>
          <a:xfrm>
            <a:off x="-101520" y="-76320"/>
            <a:ext cx="16458840" cy="937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Picture 3" descr=""/>
          <p:cNvPicPr/>
          <p:nvPr/>
        </p:nvPicPr>
        <p:blipFill>
          <a:blip r:embed="rId2"/>
          <a:stretch/>
        </p:blipFill>
        <p:spPr>
          <a:xfrm>
            <a:off x="-25560" y="-25560"/>
            <a:ext cx="16306560" cy="919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TextBox 4"/>
          <p:cNvSpPr/>
          <p:nvPr/>
        </p:nvSpPr>
        <p:spPr>
          <a:xfrm>
            <a:off x="965160" y="529560"/>
            <a:ext cx="10387080" cy="83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3550" spc="88" strike="noStrike" u="none">
                <a:solidFill>
                  <a:srgbClr val="162746"/>
                </a:solidFill>
                <a:uFillTx/>
                <a:latin typeface="Times New Roman"/>
              </a:rPr>
              <a:t>Objectives</a:t>
            </a:r>
            <a:endParaRPr b="0" lang="en-US" sz="35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5791"/>
              </a:spcBef>
              <a:tabLst>
                <a:tab algn="l" pos="0"/>
              </a:tabLst>
            </a:pPr>
            <a:r>
              <a:rPr b="0" lang="en-US" sz="2600" spc="-26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26" strike="noStrike" u="none">
                <a:solidFill>
                  <a:srgbClr val="232328"/>
                </a:solidFill>
                <a:uFillTx/>
                <a:latin typeface="Times New Roman"/>
              </a:rPr>
              <a:t>Develop responsive web applications using HTML, CSS and JavaScript.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-17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17" strike="noStrike" u="none">
                <a:solidFill>
                  <a:srgbClr val="232328"/>
                </a:solidFill>
                <a:uFillTx/>
                <a:latin typeface="Times New Roman"/>
              </a:rPr>
              <a:t>Apply JavaScript to real user interactions and workflows.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-26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26" strike="noStrike" u="none">
                <a:solidFill>
                  <a:srgbClr val="232328"/>
                </a:solidFill>
                <a:uFillTx/>
                <a:latin typeface="Times New Roman"/>
              </a:rPr>
              <a:t>Implement validation, editing, deletion, search and filtering.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-3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3" strike="noStrike" u="none">
                <a:solidFill>
                  <a:srgbClr val="232328"/>
                </a:solidFill>
                <a:uFillTx/>
                <a:latin typeface="Times New Roman"/>
              </a:rPr>
              <a:t>Use Local Storage for persistent browser-side data.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-14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14" strike="noStrike" u="none">
                <a:solidFill>
                  <a:srgbClr val="232328"/>
                </a:solidFill>
                <a:uFillTx/>
                <a:latin typeface="Times New Roman"/>
              </a:rPr>
              <a:t>Practice testing, debugging and GitHub-based project organization.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61"/>
              </a:lnSpc>
              <a:spcBef>
                <a:spcPts val="33778"/>
              </a:spcBef>
              <a:tabLst>
                <a:tab algn="l" pos="0"/>
              </a:tabLst>
            </a:pPr>
            <a:r>
              <a:rPr b="0" lang="en-US" sz="1150" spc="-9" strike="noStrike" u="none">
                <a:solidFill>
                  <a:srgbClr val="2166aa"/>
                </a:solidFill>
                <a:uFillTx/>
                <a:latin typeface="Times New Roman"/>
              </a:rPr>
              <a:t>Vineet Singh | CodSoft Frontend Development Internship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"/>
          <p:cNvPicPr/>
          <p:nvPr/>
        </p:nvPicPr>
        <p:blipFill>
          <a:blip r:embed="rId1"/>
          <a:stretch/>
        </p:blipFill>
        <p:spPr>
          <a:xfrm>
            <a:off x="-101520" y="-76320"/>
            <a:ext cx="16458840" cy="937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Picture 3" descr=""/>
          <p:cNvPicPr/>
          <p:nvPr/>
        </p:nvPicPr>
        <p:blipFill>
          <a:blip r:embed="rId2"/>
          <a:stretch/>
        </p:blipFill>
        <p:spPr>
          <a:xfrm>
            <a:off x="-25560" y="-25560"/>
            <a:ext cx="16306560" cy="919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Box 4"/>
          <p:cNvSpPr/>
          <p:nvPr/>
        </p:nvSpPr>
        <p:spPr>
          <a:xfrm>
            <a:off x="965160" y="529560"/>
            <a:ext cx="8681400" cy="83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3550" spc="20" strike="noStrike" u="none">
                <a:solidFill>
                  <a:srgbClr val="162746"/>
                </a:solidFill>
                <a:uFillTx/>
                <a:latin typeface="Times New Roman"/>
              </a:rPr>
              <a:t>Technologies &amp; Tools</a:t>
            </a:r>
            <a:endParaRPr b="0" lang="en-US" sz="35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5791"/>
              </a:spcBef>
              <a:tabLst>
                <a:tab algn="l" pos="0"/>
              </a:tabLst>
            </a:pPr>
            <a:r>
              <a:rPr b="0" lang="en-US" sz="2600" spc="-65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65" strike="noStrike" u="none">
                <a:solidFill>
                  <a:srgbClr val="232328"/>
                </a:solidFill>
                <a:uFillTx/>
                <a:latin typeface="Times New Roman"/>
              </a:rPr>
              <a:t>HTML5 — structure and semantic content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-17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17" strike="noStrike" u="none">
                <a:solidFill>
                  <a:srgbClr val="232328"/>
                </a:solidFill>
                <a:uFillTx/>
                <a:latin typeface="Times New Roman"/>
              </a:rPr>
              <a:t>CSS3 — styling, layout and responsive design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-65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65" strike="noStrike" u="none">
                <a:solidFill>
                  <a:srgbClr val="232328"/>
                </a:solidFill>
                <a:uFillTx/>
                <a:latin typeface="Times New Roman"/>
              </a:rPr>
              <a:t>JavaScript — DOM, events, validation and application logic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trike="noStrike" u="none">
                <a:solidFill>
                  <a:srgbClr val="232328"/>
                </a:solidFill>
                <a:uFillTx/>
                <a:latin typeface="Times New Roman"/>
              </a:rPr>
              <a:t>Local Storage — client-side persistence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-65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65" strike="noStrike" u="none">
                <a:solidFill>
                  <a:srgbClr val="232328"/>
                </a:solidFill>
                <a:uFillTx/>
                <a:latin typeface="Times New Roman"/>
              </a:rPr>
              <a:t>Git &amp; GitHub — version control and repository management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-23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23" strike="noStrike" u="none">
                <a:solidFill>
                  <a:srgbClr val="232328"/>
                </a:solidFill>
                <a:uFillTx/>
                <a:latin typeface="Times New Roman"/>
              </a:rPr>
              <a:t>Browser Developer Tools — testing and debugging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61"/>
              </a:lnSpc>
              <a:spcBef>
                <a:spcPts val="29480"/>
              </a:spcBef>
              <a:tabLst>
                <a:tab algn="l" pos="0"/>
              </a:tabLst>
            </a:pPr>
            <a:r>
              <a:rPr b="0" lang="en-US" sz="1150" spc="-9" strike="noStrike" u="none">
                <a:solidFill>
                  <a:srgbClr val="2166aa"/>
                </a:solidFill>
                <a:uFillTx/>
                <a:latin typeface="Times New Roman"/>
              </a:rPr>
              <a:t>Vineet Singh | CodSoft Frontend Development Internship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 descr=""/>
          <p:cNvPicPr/>
          <p:nvPr/>
        </p:nvPicPr>
        <p:blipFill>
          <a:blip r:embed="rId1"/>
          <a:stretch/>
        </p:blipFill>
        <p:spPr>
          <a:xfrm>
            <a:off x="-101520" y="-76320"/>
            <a:ext cx="16458840" cy="937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Picture 3" descr=""/>
          <p:cNvPicPr/>
          <p:nvPr/>
        </p:nvPicPr>
        <p:blipFill>
          <a:blip r:embed="rId2"/>
          <a:stretch/>
        </p:blipFill>
        <p:spPr>
          <a:xfrm>
            <a:off x="-25560" y="-25560"/>
            <a:ext cx="16306560" cy="919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Box 4"/>
          <p:cNvSpPr/>
          <p:nvPr/>
        </p:nvSpPr>
        <p:spPr>
          <a:xfrm>
            <a:off x="965160" y="529560"/>
            <a:ext cx="5333760" cy="83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3550" spc="-37" strike="noStrike" u="none">
                <a:solidFill>
                  <a:srgbClr val="162746"/>
                </a:solidFill>
                <a:uFillTx/>
                <a:latin typeface="Times New Roman"/>
              </a:rPr>
              <a:t>Task 1 — Taskora</a:t>
            </a:r>
            <a:endParaRPr b="0" lang="en-US" sz="35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5859"/>
              </a:spcBef>
              <a:tabLst>
                <a:tab algn="l" pos="0"/>
              </a:tabLst>
            </a:pPr>
            <a:r>
              <a:rPr b="0" lang="en-US" sz="2300" spc="-23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300" spc="-23" strike="noStrike" u="none">
                <a:solidFill>
                  <a:srgbClr val="232328"/>
                </a:solidFill>
                <a:uFillTx/>
                <a:latin typeface="Times New Roman"/>
              </a:rPr>
              <a:t>Responsive To-Do List application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70"/>
              </a:spcBef>
              <a:tabLst>
                <a:tab algn="l" pos="0"/>
              </a:tabLst>
            </a:pPr>
            <a:r>
              <a:rPr b="0" lang="en-US" sz="2300" spc="6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300" spc="6" strike="noStrike" u="none">
                <a:solidFill>
                  <a:srgbClr val="232328"/>
                </a:solidFill>
                <a:uFillTx/>
                <a:latin typeface="Times New Roman"/>
              </a:rPr>
              <a:t>Add and validate tasks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70"/>
              </a:spcBef>
              <a:tabLst>
                <a:tab algn="l" pos="0"/>
              </a:tabLst>
            </a:pPr>
            <a:r>
              <a:rPr b="0" lang="en-US" sz="2300" spc="14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300" spc="14" strike="noStrike" u="none">
                <a:solidFill>
                  <a:srgbClr val="232328"/>
                </a:solidFill>
                <a:uFillTx/>
                <a:latin typeface="Times New Roman"/>
              </a:rPr>
              <a:t>Edit and delete tasks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70"/>
              </a:spcBef>
              <a:tabLst>
                <a:tab algn="l" pos="0"/>
              </a:tabLst>
            </a:pPr>
            <a:r>
              <a:rPr b="0" lang="en-US" sz="2300" spc="14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300" spc="14" strike="noStrike" u="none">
                <a:solidFill>
                  <a:srgbClr val="232328"/>
                </a:solidFill>
                <a:uFillTx/>
                <a:latin typeface="Times New Roman"/>
              </a:rPr>
              <a:t>Mark tasks as completed or pending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70"/>
              </a:spcBef>
              <a:tabLst>
                <a:tab algn="l" pos="0"/>
              </a:tabLst>
            </a:pPr>
            <a:r>
              <a:rPr b="0" lang="en-US" sz="2300" spc="20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300" spc="20" strike="noStrike" u="none">
                <a:solidFill>
                  <a:srgbClr val="232328"/>
                </a:solidFill>
                <a:uFillTx/>
                <a:latin typeface="Times New Roman"/>
              </a:rPr>
              <a:t>Search and filter tasks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70"/>
              </a:spcBef>
              <a:tabLst>
                <a:tab algn="l" pos="0"/>
              </a:tabLst>
            </a:pPr>
            <a:r>
              <a:rPr b="0" lang="en-US" sz="2300" spc="14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300" spc="14" strike="noStrike" u="none">
                <a:solidFill>
                  <a:srgbClr val="232328"/>
                </a:solidFill>
                <a:uFillTx/>
                <a:latin typeface="Times New Roman"/>
              </a:rPr>
              <a:t>Display completed and pending counts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70"/>
              </a:spcBef>
              <a:tabLst>
                <a:tab algn="l" pos="0"/>
              </a:tabLst>
            </a:pPr>
            <a:r>
              <a:rPr b="0" lang="en-US" sz="2300" spc="31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300" spc="31" strike="noStrike" u="none">
                <a:solidFill>
                  <a:srgbClr val="232328"/>
                </a:solidFill>
                <a:uFillTx/>
                <a:latin typeface="Times New Roman"/>
              </a:rPr>
              <a:t>Persist tasks using Local Storage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61"/>
              </a:lnSpc>
              <a:spcBef>
                <a:spcPts val="27249"/>
              </a:spcBef>
              <a:tabLst>
                <a:tab algn="l" pos="0"/>
              </a:tabLst>
            </a:pPr>
            <a:r>
              <a:rPr b="0" lang="en-US" sz="1150" spc="-9" strike="noStrike" u="none">
                <a:solidFill>
                  <a:srgbClr val="2166aa"/>
                </a:solidFill>
                <a:uFillTx/>
                <a:latin typeface="Times New Roman"/>
              </a:rPr>
              <a:t>Vineet Singh | CodSoft Frontend Development Internship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 descr=""/>
          <p:cNvPicPr/>
          <p:nvPr/>
        </p:nvPicPr>
        <p:blipFill>
          <a:blip r:embed="rId1"/>
          <a:stretch/>
        </p:blipFill>
        <p:spPr>
          <a:xfrm>
            <a:off x="-101520" y="-76320"/>
            <a:ext cx="16458840" cy="937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Picture 3" descr=""/>
          <p:cNvPicPr/>
          <p:nvPr/>
        </p:nvPicPr>
        <p:blipFill>
          <a:blip r:embed="rId2"/>
          <a:stretch/>
        </p:blipFill>
        <p:spPr>
          <a:xfrm>
            <a:off x="-25560" y="-25560"/>
            <a:ext cx="16306560" cy="919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Box 4"/>
          <p:cNvSpPr/>
          <p:nvPr/>
        </p:nvSpPr>
        <p:spPr>
          <a:xfrm>
            <a:off x="965160" y="529560"/>
            <a:ext cx="7331400" cy="83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3550" spc="-17" strike="noStrike" u="none">
                <a:solidFill>
                  <a:srgbClr val="162746"/>
                </a:solidFill>
                <a:uFillTx/>
                <a:latin typeface="Times New Roman"/>
              </a:rPr>
              <a:t>Task 2 — Spendora</a:t>
            </a:r>
            <a:endParaRPr b="0" lang="en-US" sz="35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5859"/>
              </a:spcBef>
              <a:tabLst>
                <a:tab algn="l" pos="0"/>
              </a:tabLst>
            </a:pPr>
            <a:r>
              <a:rPr b="0" lang="en-US" sz="2300" spc="6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300" spc="6" strike="noStrike" u="none">
                <a:solidFill>
                  <a:srgbClr val="232328"/>
                </a:solidFill>
                <a:uFillTx/>
                <a:latin typeface="Times New Roman"/>
              </a:rPr>
              <a:t>Personal Expense Tracker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70"/>
              </a:spcBef>
              <a:tabLst>
                <a:tab algn="l" pos="0"/>
              </a:tabLst>
            </a:pPr>
            <a:r>
              <a:rPr b="0" lang="en-US" sz="2300" spc="31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300" spc="31" strike="noStrike" u="none">
                <a:solidFill>
                  <a:srgbClr val="232328"/>
                </a:solidFill>
                <a:uFillTx/>
                <a:latin typeface="Times New Roman"/>
              </a:rPr>
              <a:t>Add income and expense transactions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70"/>
              </a:spcBef>
              <a:tabLst>
                <a:tab algn="l" pos="0"/>
              </a:tabLst>
            </a:pPr>
            <a:r>
              <a:rPr b="0" lang="en-US" sz="2300" spc="6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300" spc="6" strike="noStrike" u="none">
                <a:solidFill>
                  <a:srgbClr val="232328"/>
                </a:solidFill>
                <a:uFillTx/>
                <a:latin typeface="Times New Roman"/>
              </a:rPr>
              <a:t>Show transaction history with date and category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70"/>
              </a:spcBef>
              <a:tabLst>
                <a:tab algn="l" pos="0"/>
              </a:tabLst>
            </a:pPr>
            <a:r>
              <a:rPr b="0" lang="en-US" sz="2300" spc="26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300" spc="26" strike="noStrike" u="none">
                <a:solidFill>
                  <a:srgbClr val="232328"/>
                </a:solidFill>
                <a:uFillTx/>
                <a:latin typeface="Times New Roman"/>
              </a:rPr>
              <a:t>Automatically calculate income, expenses and balance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70"/>
              </a:spcBef>
              <a:tabLst>
                <a:tab algn="l" pos="0"/>
              </a:tabLst>
            </a:pPr>
            <a:r>
              <a:rPr b="0" lang="en-US" sz="2300" spc="17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300" spc="17" strike="noStrike" u="none">
                <a:solidFill>
                  <a:srgbClr val="232328"/>
                </a:solidFill>
                <a:uFillTx/>
                <a:latin typeface="Times New Roman"/>
              </a:rPr>
              <a:t>Edit and delete transactions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70"/>
              </a:spcBef>
              <a:tabLst>
                <a:tab algn="l" pos="0"/>
              </a:tabLst>
            </a:pPr>
            <a:r>
              <a:rPr b="0" lang="en-US" sz="2300" spc="-20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300" spc="-20" strike="noStrike" u="none">
                <a:solidFill>
                  <a:srgbClr val="232328"/>
                </a:solidFill>
                <a:uFillTx/>
                <a:latin typeface="Times New Roman"/>
              </a:rPr>
              <a:t>Filter by category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70"/>
              </a:spcBef>
              <a:tabLst>
                <a:tab algn="l" pos="0"/>
              </a:tabLst>
            </a:pPr>
            <a:r>
              <a:rPr b="0" lang="en-US" sz="2300" spc="20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300" spc="20" strike="noStrike" u="none">
                <a:solidFill>
                  <a:srgbClr val="232328"/>
                </a:solidFill>
                <a:uFillTx/>
                <a:latin typeface="Times New Roman"/>
              </a:rPr>
              <a:t>Persist transaction data using Local Storage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70"/>
              </a:spcBef>
              <a:tabLst>
                <a:tab algn="l" pos="0"/>
              </a:tabLst>
            </a:pPr>
            <a:r>
              <a:rPr b="0" lang="en-US" sz="2300" spc="3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300" spc="3" strike="noStrike" u="none">
                <a:solidFill>
                  <a:srgbClr val="232328"/>
                </a:solidFill>
                <a:uFillTx/>
                <a:latin typeface="Times New Roman"/>
              </a:rPr>
              <a:t>Display financial summary cards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61"/>
              </a:lnSpc>
              <a:spcBef>
                <a:spcPts val="23250"/>
              </a:spcBef>
              <a:tabLst>
                <a:tab algn="l" pos="0"/>
              </a:tabLst>
            </a:pPr>
            <a:r>
              <a:rPr b="0" lang="en-US" sz="1150" spc="-9" strike="noStrike" u="none">
                <a:solidFill>
                  <a:srgbClr val="2166aa"/>
                </a:solidFill>
                <a:uFillTx/>
                <a:latin typeface="Times New Roman"/>
              </a:rPr>
              <a:t>Vineet Singh | CodSoft Frontend Development Internship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" descr=""/>
          <p:cNvPicPr/>
          <p:nvPr/>
        </p:nvPicPr>
        <p:blipFill>
          <a:blip r:embed="rId1"/>
          <a:stretch/>
        </p:blipFill>
        <p:spPr>
          <a:xfrm>
            <a:off x="-101520" y="-76320"/>
            <a:ext cx="16458840" cy="937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Picture 3" descr=""/>
          <p:cNvPicPr/>
          <p:nvPr/>
        </p:nvPicPr>
        <p:blipFill>
          <a:blip r:embed="rId2"/>
          <a:stretch/>
        </p:blipFill>
        <p:spPr>
          <a:xfrm>
            <a:off x="-25560" y="-25560"/>
            <a:ext cx="16306560" cy="919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TextBox 4"/>
          <p:cNvSpPr/>
          <p:nvPr/>
        </p:nvSpPr>
        <p:spPr>
          <a:xfrm>
            <a:off x="965160" y="529560"/>
            <a:ext cx="8391960" cy="83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3550" spc="-9" strike="noStrike" u="none">
                <a:solidFill>
                  <a:srgbClr val="162746"/>
                </a:solidFill>
                <a:uFillTx/>
                <a:latin typeface="Times New Roman"/>
              </a:rPr>
              <a:t>Task 3 — Blog Website</a:t>
            </a:r>
            <a:endParaRPr b="0" lang="en-US" sz="35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5791"/>
              </a:spcBef>
              <a:tabLst>
                <a:tab algn="l" pos="0"/>
              </a:tabLst>
            </a:pPr>
            <a:r>
              <a:rPr b="0" lang="en-US" sz="2600" spc="14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14" strike="noStrike" u="none">
                <a:solidFill>
                  <a:srgbClr val="232328"/>
                </a:solidFill>
                <a:uFillTx/>
                <a:latin typeface="Times New Roman"/>
              </a:rPr>
              <a:t>Responsive blog/content interface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-9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9" strike="noStrike" u="none">
                <a:solidFill>
                  <a:srgbClr val="232328"/>
                </a:solidFill>
                <a:uFillTx/>
                <a:latin typeface="Times New Roman"/>
              </a:rPr>
              <a:t>Structured article presentation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-6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6" strike="noStrike" u="none">
                <a:solidFill>
                  <a:srgbClr val="232328"/>
                </a:solidFill>
                <a:uFillTx/>
                <a:latin typeface="Times New Roman"/>
              </a:rPr>
              <a:t>Interactive JavaScript-based behavior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3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3" strike="noStrike" u="none">
                <a:solidFill>
                  <a:srgbClr val="232328"/>
                </a:solidFill>
                <a:uFillTx/>
                <a:latin typeface="Times New Roman"/>
              </a:rPr>
              <a:t>Search/category-oriented navigation where implemented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34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34" strike="noStrike" u="none">
                <a:solidFill>
                  <a:srgbClr val="232328"/>
                </a:solidFill>
                <a:uFillTx/>
                <a:latin typeface="Times New Roman"/>
              </a:rPr>
              <a:t>Custom visual assets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14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14" strike="noStrike" u="none">
                <a:solidFill>
                  <a:srgbClr val="232328"/>
                </a:solidFill>
                <a:uFillTx/>
                <a:latin typeface="Times New Roman"/>
              </a:rPr>
              <a:t>Responsive styling for different screen sizes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61"/>
              </a:lnSpc>
              <a:spcBef>
                <a:spcPts val="29480"/>
              </a:spcBef>
              <a:tabLst>
                <a:tab algn="l" pos="0"/>
              </a:tabLst>
            </a:pPr>
            <a:r>
              <a:rPr b="0" lang="en-US" sz="1150" spc="-9" strike="noStrike" u="none">
                <a:solidFill>
                  <a:srgbClr val="2166aa"/>
                </a:solidFill>
                <a:uFillTx/>
                <a:latin typeface="Times New Roman"/>
              </a:rPr>
              <a:t>Vineet Singh | CodSoft Frontend Development Internship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2" descr=""/>
          <p:cNvPicPr/>
          <p:nvPr/>
        </p:nvPicPr>
        <p:blipFill>
          <a:blip r:embed="rId1"/>
          <a:stretch/>
        </p:blipFill>
        <p:spPr>
          <a:xfrm>
            <a:off x="-101520" y="-76320"/>
            <a:ext cx="16458840" cy="937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Picture 3" descr=""/>
          <p:cNvPicPr/>
          <p:nvPr/>
        </p:nvPicPr>
        <p:blipFill>
          <a:blip r:embed="rId2"/>
          <a:stretch/>
        </p:blipFill>
        <p:spPr>
          <a:xfrm>
            <a:off x="-25560" y="-25560"/>
            <a:ext cx="16306560" cy="919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TextBox 4"/>
          <p:cNvSpPr/>
          <p:nvPr/>
        </p:nvSpPr>
        <p:spPr>
          <a:xfrm>
            <a:off x="965160" y="529560"/>
            <a:ext cx="10767960" cy="83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3550" spc="37" strike="noStrike" u="none">
                <a:solidFill>
                  <a:srgbClr val="162746"/>
                </a:solidFill>
                <a:uFillTx/>
                <a:latin typeface="Times New Roman"/>
              </a:rPr>
              <a:t>System Architecture</a:t>
            </a:r>
            <a:endParaRPr b="0" lang="en-US" sz="35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5791"/>
              </a:spcBef>
              <a:tabLst>
                <a:tab algn="l" pos="0"/>
              </a:tabLst>
            </a:pPr>
            <a:r>
              <a:rPr b="0" lang="en-US" sz="2600" spc="-65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65" strike="noStrike" u="none">
                <a:solidFill>
                  <a:srgbClr val="232328"/>
                </a:solidFill>
                <a:uFillTx/>
                <a:latin typeface="Times New Roman"/>
              </a:rPr>
              <a:t>HTML provides structure and input controls.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-11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11" strike="noStrike" u="none">
                <a:solidFill>
                  <a:srgbClr val="232328"/>
                </a:solidFill>
                <a:uFillTx/>
                <a:latin typeface="Times New Roman"/>
              </a:rPr>
              <a:t>CSS provides visual styling and responsive layout.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-20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20" strike="noStrike" u="none">
                <a:solidFill>
                  <a:srgbClr val="232328"/>
                </a:solidFill>
                <a:uFillTx/>
                <a:latin typeface="Times New Roman"/>
              </a:rPr>
              <a:t>JavaScript handles events, validation, DOM updates and application logic.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-9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9" strike="noStrike" u="none">
                <a:solidFill>
                  <a:srgbClr val="232328"/>
                </a:solidFill>
                <a:uFillTx/>
                <a:latin typeface="Times New Roman"/>
              </a:rPr>
              <a:t>Local Storage maintains client-side state for Taskora and Spendora.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61"/>
              </a:lnSpc>
              <a:spcBef>
                <a:spcPts val="38078"/>
              </a:spcBef>
              <a:tabLst>
                <a:tab algn="l" pos="0"/>
              </a:tabLst>
            </a:pPr>
            <a:r>
              <a:rPr b="0" lang="en-US" sz="1150" spc="-9" strike="noStrike" u="none">
                <a:solidFill>
                  <a:srgbClr val="2166aa"/>
                </a:solidFill>
                <a:uFillTx/>
                <a:latin typeface="Times New Roman"/>
              </a:rPr>
              <a:t>Vineet Singh | CodSoft Frontend Development Internship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2" descr=""/>
          <p:cNvPicPr/>
          <p:nvPr/>
        </p:nvPicPr>
        <p:blipFill>
          <a:blip r:embed="rId1"/>
          <a:stretch/>
        </p:blipFill>
        <p:spPr>
          <a:xfrm>
            <a:off x="-101520" y="-76320"/>
            <a:ext cx="16458840" cy="937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Picture 3" descr=""/>
          <p:cNvPicPr/>
          <p:nvPr/>
        </p:nvPicPr>
        <p:blipFill>
          <a:blip r:embed="rId2"/>
          <a:stretch/>
        </p:blipFill>
        <p:spPr>
          <a:xfrm>
            <a:off x="-25560" y="-25560"/>
            <a:ext cx="16306560" cy="919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TextBox 4"/>
          <p:cNvSpPr/>
          <p:nvPr/>
        </p:nvSpPr>
        <p:spPr>
          <a:xfrm>
            <a:off x="965160" y="529560"/>
            <a:ext cx="6983280" cy="83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3550" spc="-3" strike="noStrike" u="none">
                <a:solidFill>
                  <a:srgbClr val="162746"/>
                </a:solidFill>
                <a:uFillTx/>
                <a:latin typeface="Times New Roman"/>
              </a:rPr>
              <a:t>Development Methodology</a:t>
            </a:r>
            <a:endParaRPr b="0" lang="en-US" sz="35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5859"/>
              </a:spcBef>
              <a:tabLst>
                <a:tab algn="l" pos="0"/>
              </a:tabLst>
            </a:pPr>
            <a:r>
              <a:rPr b="0" lang="en-US" sz="2300" spc="6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300" spc="6" strike="noStrike" u="none">
                <a:solidFill>
                  <a:srgbClr val="232328"/>
                </a:solidFill>
                <a:uFillTx/>
                <a:latin typeface="Times New Roman"/>
              </a:rPr>
              <a:t>Requirement analysis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70"/>
              </a:spcBef>
              <a:tabLst>
                <a:tab algn="l" pos="0"/>
              </a:tabLst>
            </a:pPr>
            <a:r>
              <a:rPr b="0" lang="en-US" sz="2300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300" strike="noStrike" u="none">
                <a:solidFill>
                  <a:srgbClr val="232328"/>
                </a:solidFill>
                <a:uFillTx/>
                <a:latin typeface="Times New Roman"/>
              </a:rPr>
              <a:t>Interface planning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70"/>
              </a:spcBef>
              <a:tabLst>
                <a:tab algn="l" pos="0"/>
              </a:tabLst>
            </a:pPr>
            <a:r>
              <a:rPr b="0" lang="en-US" sz="2300" spc="-57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300" spc="-57" strike="noStrike" u="none">
                <a:solidFill>
                  <a:srgbClr val="232328"/>
                </a:solidFill>
                <a:uFillTx/>
                <a:latin typeface="Times New Roman"/>
              </a:rPr>
              <a:t>HTML structure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70"/>
              </a:spcBef>
              <a:tabLst>
                <a:tab algn="l" pos="0"/>
              </a:tabLst>
            </a:pPr>
            <a:r>
              <a:rPr b="0" lang="en-US" sz="2300" spc="14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300" spc="14" strike="noStrike" u="none">
                <a:solidFill>
                  <a:srgbClr val="232328"/>
                </a:solidFill>
                <a:uFillTx/>
                <a:latin typeface="Times New Roman"/>
              </a:rPr>
              <a:t>CSS and responsive styling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70"/>
              </a:spcBef>
              <a:tabLst>
                <a:tab algn="l" pos="0"/>
              </a:tabLst>
            </a:pPr>
            <a:r>
              <a:rPr b="0" lang="en-US" sz="2300" spc="-23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300" spc="-23" strike="noStrike" u="none">
                <a:solidFill>
                  <a:srgbClr val="232328"/>
                </a:solidFill>
                <a:uFillTx/>
                <a:latin typeface="Times New Roman"/>
              </a:rPr>
              <a:t>JavaScript and DOM logic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70"/>
              </a:spcBef>
              <a:tabLst>
                <a:tab algn="l" pos="0"/>
              </a:tabLst>
            </a:pPr>
            <a:r>
              <a:rPr b="0" lang="en-US" sz="2300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300" strike="noStrike" u="none">
                <a:solidFill>
                  <a:srgbClr val="232328"/>
                </a:solidFill>
                <a:uFillTx/>
                <a:latin typeface="Times New Roman"/>
              </a:rPr>
              <a:t>Local Storage integration where required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70"/>
              </a:spcBef>
              <a:tabLst>
                <a:tab algn="l" pos="0"/>
              </a:tabLst>
            </a:pPr>
            <a:r>
              <a:rPr b="0" lang="en-US" sz="2300" spc="9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300" spc="9" strike="noStrike" u="none">
                <a:solidFill>
                  <a:srgbClr val="232328"/>
                </a:solidFill>
                <a:uFillTx/>
                <a:latin typeface="Times New Roman"/>
              </a:rPr>
              <a:t>Functional testing and debugging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70"/>
              </a:spcBef>
              <a:tabLst>
                <a:tab algn="l" pos="0"/>
              </a:tabLst>
            </a:pPr>
            <a:r>
              <a:rPr b="0" lang="en-US" sz="2300" spc="-17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300" spc="-17" strike="noStrike" u="none">
                <a:solidFill>
                  <a:srgbClr val="232328"/>
                </a:solidFill>
                <a:uFillTx/>
                <a:latin typeface="Times New Roman"/>
              </a:rPr>
              <a:t>Refinement, demonstration and GitHub organization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61"/>
              </a:lnSpc>
              <a:spcBef>
                <a:spcPts val="23250"/>
              </a:spcBef>
              <a:tabLst>
                <a:tab algn="l" pos="0"/>
              </a:tabLst>
            </a:pPr>
            <a:r>
              <a:rPr b="0" lang="en-US" sz="1150" spc="-9" strike="noStrike" u="none">
                <a:solidFill>
                  <a:srgbClr val="2166aa"/>
                </a:solidFill>
                <a:uFillTx/>
                <a:latin typeface="Times New Roman"/>
              </a:rPr>
              <a:t>Vineet Singh | CodSoft Frontend Development Internship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2" descr=""/>
          <p:cNvPicPr/>
          <p:nvPr/>
        </p:nvPicPr>
        <p:blipFill>
          <a:blip r:embed="rId1"/>
          <a:stretch/>
        </p:blipFill>
        <p:spPr>
          <a:xfrm>
            <a:off x="-101520" y="-76320"/>
            <a:ext cx="16458840" cy="937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Picture 3" descr=""/>
          <p:cNvPicPr/>
          <p:nvPr/>
        </p:nvPicPr>
        <p:blipFill>
          <a:blip r:embed="rId2"/>
          <a:stretch/>
        </p:blipFill>
        <p:spPr>
          <a:xfrm>
            <a:off x="-25560" y="-25560"/>
            <a:ext cx="16306560" cy="919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TextBox 4"/>
          <p:cNvSpPr/>
          <p:nvPr/>
        </p:nvSpPr>
        <p:spPr>
          <a:xfrm>
            <a:off x="965160" y="529560"/>
            <a:ext cx="5411160" cy="83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3550" spc="-6" strike="noStrike" u="none">
                <a:solidFill>
                  <a:srgbClr val="162746"/>
                </a:solidFill>
                <a:uFillTx/>
                <a:latin typeface="Times New Roman"/>
              </a:rPr>
              <a:t>Skills &amp; Learning Outcomes</a:t>
            </a:r>
            <a:endParaRPr b="0" lang="en-US" sz="35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5859"/>
              </a:spcBef>
              <a:tabLst>
                <a:tab algn="l" pos="0"/>
              </a:tabLst>
            </a:pPr>
            <a:r>
              <a:rPr b="0" lang="en-US" sz="2300" spc="17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300" spc="17" strike="noStrike" u="none">
                <a:solidFill>
                  <a:srgbClr val="232328"/>
                </a:solidFill>
                <a:uFillTx/>
                <a:latin typeface="Times New Roman"/>
              </a:rPr>
              <a:t>Responsive frontend development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70"/>
              </a:spcBef>
              <a:tabLst>
                <a:tab algn="l" pos="0"/>
              </a:tabLst>
            </a:pPr>
            <a:r>
              <a:rPr b="0" lang="en-US" sz="2300" spc="-31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300" spc="-31" strike="noStrike" u="none">
                <a:solidFill>
                  <a:srgbClr val="232328"/>
                </a:solidFill>
                <a:uFillTx/>
                <a:latin typeface="Times New Roman"/>
              </a:rPr>
              <a:t>DOM manipulation and event handling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70"/>
              </a:spcBef>
              <a:tabLst>
                <a:tab algn="l" pos="0"/>
              </a:tabLst>
            </a:pPr>
            <a:r>
              <a:rPr b="0" lang="en-US" sz="2300" spc="-20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300" spc="-20" strike="noStrike" u="none">
                <a:solidFill>
                  <a:srgbClr val="232328"/>
                </a:solidFill>
                <a:uFillTx/>
                <a:latin typeface="Times New Roman"/>
              </a:rPr>
              <a:t>Form validation and user-input handling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70"/>
              </a:spcBef>
              <a:tabLst>
                <a:tab algn="l" pos="0"/>
              </a:tabLst>
            </a:pPr>
            <a:r>
              <a:rPr b="0" lang="en-US" sz="2300" spc="20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300" spc="20" strike="noStrike" u="none">
                <a:solidFill>
                  <a:srgbClr val="232328"/>
                </a:solidFill>
                <a:uFillTx/>
                <a:latin typeface="Times New Roman"/>
              </a:rPr>
              <a:t>Local Storage and client-side state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70"/>
              </a:spcBef>
              <a:tabLst>
                <a:tab algn="l" pos="0"/>
              </a:tabLst>
            </a:pPr>
            <a:r>
              <a:rPr b="0" lang="en-US" sz="2300" spc="9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300" spc="9" strike="noStrike" u="none">
                <a:solidFill>
                  <a:srgbClr val="232328"/>
                </a:solidFill>
                <a:uFillTx/>
                <a:latin typeface="Times New Roman"/>
              </a:rPr>
              <a:t>Search and filtering logic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70"/>
              </a:spcBef>
              <a:tabLst>
                <a:tab algn="l" pos="0"/>
              </a:tabLst>
            </a:pPr>
            <a:r>
              <a:rPr b="0" lang="en-US" sz="2300" spc="6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300" spc="6" strike="noStrike" u="none">
                <a:solidFill>
                  <a:srgbClr val="232328"/>
                </a:solidFill>
                <a:uFillTx/>
                <a:latin typeface="Times New Roman"/>
              </a:rPr>
              <a:t>UI design and responsive layouts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70"/>
              </a:spcBef>
              <a:tabLst>
                <a:tab algn="l" pos="0"/>
              </a:tabLst>
            </a:pPr>
            <a:r>
              <a:rPr b="0" lang="en-US" sz="2300" spc="-57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300" spc="-57" strike="noStrike" u="none">
                <a:solidFill>
                  <a:srgbClr val="232328"/>
                </a:solidFill>
                <a:uFillTx/>
                <a:latin typeface="Times New Roman"/>
              </a:rPr>
              <a:t>Git/GitHub workflow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70"/>
              </a:spcBef>
              <a:tabLst>
                <a:tab algn="l" pos="0"/>
              </a:tabLst>
            </a:pPr>
            <a:r>
              <a:rPr b="0" lang="en-US" sz="2300" spc="11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300" spc="11" strike="noStrike" u="none">
                <a:solidFill>
                  <a:srgbClr val="232328"/>
                </a:solidFill>
                <a:uFillTx/>
                <a:latin typeface="Times New Roman"/>
              </a:rPr>
              <a:t>Debugging and testing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61"/>
              </a:lnSpc>
              <a:spcBef>
                <a:spcPts val="23250"/>
              </a:spcBef>
              <a:tabLst>
                <a:tab algn="l" pos="0"/>
              </a:tabLst>
            </a:pPr>
            <a:r>
              <a:rPr b="0" lang="en-US" sz="1150" spc="-9" strike="noStrike" u="none">
                <a:solidFill>
                  <a:srgbClr val="2166aa"/>
                </a:solidFill>
                <a:uFillTx/>
                <a:latin typeface="Times New Roman"/>
              </a:rPr>
              <a:t>Vineet Singh | CodSoft Frontend Development Internship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2" descr=""/>
          <p:cNvPicPr/>
          <p:nvPr/>
        </p:nvPicPr>
        <p:blipFill>
          <a:blip r:embed="rId1"/>
          <a:stretch/>
        </p:blipFill>
        <p:spPr>
          <a:xfrm>
            <a:off x="-101520" y="-76320"/>
            <a:ext cx="16458840" cy="937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Picture 3" descr=""/>
          <p:cNvPicPr/>
          <p:nvPr/>
        </p:nvPicPr>
        <p:blipFill>
          <a:blip r:embed="rId2"/>
          <a:stretch/>
        </p:blipFill>
        <p:spPr>
          <a:xfrm>
            <a:off x="-25560" y="-25560"/>
            <a:ext cx="16306560" cy="919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TextBox 4"/>
          <p:cNvSpPr/>
          <p:nvPr/>
        </p:nvSpPr>
        <p:spPr>
          <a:xfrm>
            <a:off x="965160" y="529560"/>
            <a:ext cx="10844280" cy="83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3550" spc="20" strike="noStrike" u="none">
                <a:solidFill>
                  <a:srgbClr val="162746"/>
                </a:solidFill>
                <a:uFillTx/>
                <a:latin typeface="Times New Roman"/>
              </a:rPr>
              <a:t>Challenges &amp; Solutions</a:t>
            </a:r>
            <a:endParaRPr b="0" lang="en-US" sz="35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5420"/>
              </a:spcBef>
              <a:tabLst>
                <a:tab algn="l" pos="0"/>
              </a:tabLst>
            </a:pPr>
            <a:r>
              <a:rPr b="0" lang="en-US" sz="2600" spc="-37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37" strike="noStrike" u="none">
                <a:solidFill>
                  <a:srgbClr val="232328"/>
                </a:solidFill>
                <a:uFillTx/>
                <a:latin typeface="Times New Roman"/>
              </a:rPr>
              <a:t>Keeping UI and data synchronized</a:t>
            </a:r>
            <a:r>
              <a:rPr b="0" lang="en-US" sz="2620" strike="noStrike" u="none">
                <a:solidFill>
                  <a:srgbClr val="232328"/>
                </a:solidFill>
                <a:uFillTx/>
                <a:latin typeface="Noto Sans Symbols"/>
              </a:rPr>
              <a:t> →</a:t>
            </a:r>
            <a:r>
              <a:rPr b="0" lang="en-US" sz="2600" spc="-6" strike="noStrike" u="none">
                <a:solidFill>
                  <a:srgbClr val="232328"/>
                </a:solidFill>
                <a:uFillTx/>
                <a:latin typeface="Times New Roman"/>
              </a:rPr>
              <a:t>update the DOM after state changes.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731"/>
              </a:spcBef>
              <a:tabLst>
                <a:tab algn="l" pos="0"/>
              </a:tabLst>
            </a:pPr>
            <a:r>
              <a:rPr b="0" lang="en-US" sz="2600" spc="23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23" strike="noStrike" u="none">
                <a:solidFill>
                  <a:srgbClr val="232328"/>
                </a:solidFill>
                <a:uFillTx/>
                <a:latin typeface="Times New Roman"/>
              </a:rPr>
              <a:t>Persistent data</a:t>
            </a:r>
            <a:r>
              <a:rPr b="0" lang="en-US" sz="2620" strike="noStrike" u="none">
                <a:solidFill>
                  <a:srgbClr val="232328"/>
                </a:solidFill>
                <a:uFillTx/>
                <a:latin typeface="Noto Sans Symbols"/>
              </a:rPr>
              <a:t> →</a:t>
            </a:r>
            <a:r>
              <a:rPr b="0" lang="en-US" sz="2600" strike="noStrike" u="none">
                <a:solidFill>
                  <a:srgbClr val="232328"/>
                </a:solidFill>
                <a:uFillTx/>
                <a:latin typeface="Times New Roman"/>
              </a:rPr>
              <a:t>store and retrieve application state using Local Storage.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731"/>
              </a:spcBef>
              <a:tabLst>
                <a:tab algn="l" pos="0"/>
              </a:tabLst>
            </a:pPr>
            <a:r>
              <a:rPr b="0" lang="en-US" sz="2600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trike="noStrike" u="none">
                <a:solidFill>
                  <a:srgbClr val="232328"/>
                </a:solidFill>
                <a:uFillTx/>
                <a:latin typeface="Times New Roman"/>
              </a:rPr>
              <a:t>Responsive layouts</a:t>
            </a:r>
            <a:r>
              <a:rPr b="0" lang="en-US" sz="2620" strike="noStrike" u="none">
                <a:solidFill>
                  <a:srgbClr val="232328"/>
                </a:solidFill>
                <a:uFillTx/>
                <a:latin typeface="Noto Sans Symbols"/>
              </a:rPr>
              <a:t> →</a:t>
            </a:r>
            <a:r>
              <a:rPr b="0" lang="en-US" sz="2600" spc="23" strike="noStrike" u="none">
                <a:solidFill>
                  <a:srgbClr val="232328"/>
                </a:solidFill>
                <a:uFillTx/>
                <a:latin typeface="Times New Roman"/>
              </a:rPr>
              <a:t>test flexible layouts across viewport sizes.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731"/>
              </a:spcBef>
              <a:tabLst>
                <a:tab algn="l" pos="0"/>
              </a:tabLst>
            </a:pPr>
            <a:r>
              <a:rPr b="0" lang="en-US" sz="2600" spc="-65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65" strike="noStrike" u="none">
                <a:solidFill>
                  <a:srgbClr val="232328"/>
                </a:solidFill>
                <a:uFillTx/>
                <a:latin typeface="Times New Roman"/>
              </a:rPr>
              <a:t>Input errors</a:t>
            </a:r>
            <a:r>
              <a:rPr b="0" lang="en-US" sz="2620" strike="noStrike" u="none">
                <a:solidFill>
                  <a:srgbClr val="232328"/>
                </a:solidFill>
                <a:uFillTx/>
                <a:latin typeface="Noto Sans Symbols"/>
              </a:rPr>
              <a:t> →</a:t>
            </a:r>
            <a:r>
              <a:rPr b="0" lang="en-US" sz="2600" spc="20" strike="noStrike" u="none">
                <a:solidFill>
                  <a:srgbClr val="232328"/>
                </a:solidFill>
                <a:uFillTx/>
                <a:latin typeface="Times New Roman"/>
              </a:rPr>
              <a:t>validate data before processing.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731"/>
              </a:spcBef>
              <a:tabLst>
                <a:tab algn="l" pos="0"/>
              </a:tabLst>
            </a:pPr>
            <a:r>
              <a:rPr b="0" lang="en-US" sz="2600" spc="-14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14" strike="noStrike" u="none">
                <a:solidFill>
                  <a:srgbClr val="232328"/>
                </a:solidFill>
                <a:uFillTx/>
                <a:latin typeface="Times New Roman"/>
              </a:rPr>
              <a:t>Interaction bugs</a:t>
            </a:r>
            <a:r>
              <a:rPr b="0" lang="en-US" sz="2620" strike="noStrike" u="none">
                <a:solidFill>
                  <a:srgbClr val="232328"/>
                </a:solidFill>
                <a:uFillTx/>
                <a:latin typeface="Noto Sans Symbols"/>
              </a:rPr>
              <a:t> →</a:t>
            </a:r>
            <a:r>
              <a:rPr b="0" lang="en-US" sz="2600" spc="11" strike="noStrike" u="none">
                <a:solidFill>
                  <a:srgbClr val="232328"/>
                </a:solidFill>
                <a:uFillTx/>
                <a:latin typeface="Times New Roman"/>
              </a:rPr>
              <a:t>use browser developer tools and incremental testing.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61"/>
              </a:lnSpc>
              <a:spcBef>
                <a:spcPts val="33650"/>
              </a:spcBef>
              <a:tabLst>
                <a:tab algn="l" pos="0"/>
              </a:tabLst>
            </a:pPr>
            <a:r>
              <a:rPr b="0" lang="en-US" sz="1150" spc="-9" strike="noStrike" u="none">
                <a:solidFill>
                  <a:srgbClr val="2166aa"/>
                </a:solidFill>
                <a:uFillTx/>
                <a:latin typeface="Times New Roman"/>
              </a:rPr>
              <a:t>Vineet Singh | CodSoft Frontend Development Internship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2" descr=""/>
          <p:cNvPicPr/>
          <p:nvPr/>
        </p:nvPicPr>
        <p:blipFill>
          <a:blip r:embed="rId1"/>
          <a:stretch/>
        </p:blipFill>
        <p:spPr>
          <a:xfrm>
            <a:off x="-101520" y="-76320"/>
            <a:ext cx="16458840" cy="937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Picture 3" descr=""/>
          <p:cNvPicPr/>
          <p:nvPr/>
        </p:nvPicPr>
        <p:blipFill>
          <a:blip r:embed="rId2"/>
          <a:stretch/>
        </p:blipFill>
        <p:spPr>
          <a:xfrm>
            <a:off x="-25560" y="-25560"/>
            <a:ext cx="16306560" cy="919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TextBox 4"/>
          <p:cNvSpPr/>
          <p:nvPr/>
        </p:nvSpPr>
        <p:spPr>
          <a:xfrm>
            <a:off x="965160" y="529560"/>
            <a:ext cx="12965040" cy="83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3550" spc="88" strike="noStrike" u="none">
                <a:solidFill>
                  <a:srgbClr val="162746"/>
                </a:solidFill>
                <a:uFillTx/>
                <a:latin typeface="Times New Roman"/>
              </a:rPr>
              <a:t>Results / Outcomes</a:t>
            </a:r>
            <a:endParaRPr b="0" lang="en-US" sz="35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5791"/>
              </a:spcBef>
              <a:tabLst>
                <a:tab algn="l" pos="0"/>
              </a:tabLst>
            </a:pPr>
            <a:r>
              <a:rPr b="0" lang="en-US" sz="2600" spc="-9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9" strike="noStrike" u="none">
                <a:solidFill>
                  <a:srgbClr val="232328"/>
                </a:solidFill>
                <a:uFillTx/>
                <a:latin typeface="Times New Roman"/>
              </a:rPr>
              <a:t>Three functional frontend projects completed.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-31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31" strike="noStrike" u="none">
                <a:solidFill>
                  <a:srgbClr val="232328"/>
                </a:solidFill>
                <a:uFillTx/>
                <a:latin typeface="Times New Roman"/>
              </a:rPr>
              <a:t>Projects organized in a public GitHub repository.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-9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9" strike="noStrike" u="none">
                <a:solidFill>
                  <a:srgbClr val="232328"/>
                </a:solidFill>
                <a:uFillTx/>
                <a:latin typeface="Times New Roman"/>
              </a:rPr>
              <a:t>Live demonstrations prepared for internship submission.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9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9" strike="noStrike" u="none">
                <a:solidFill>
                  <a:srgbClr val="232328"/>
                </a:solidFill>
                <a:uFillTx/>
                <a:latin typeface="Times New Roman"/>
              </a:rPr>
              <a:t>Practical experience gained in task management, finance tracking and content interfaces.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61"/>
              </a:lnSpc>
              <a:spcBef>
                <a:spcPts val="38078"/>
              </a:spcBef>
              <a:tabLst>
                <a:tab algn="l" pos="0"/>
              </a:tabLst>
            </a:pPr>
            <a:r>
              <a:rPr b="0" lang="en-US" sz="1150" spc="-9" strike="noStrike" u="none">
                <a:solidFill>
                  <a:srgbClr val="2166aa"/>
                </a:solidFill>
                <a:uFillTx/>
                <a:latin typeface="Times New Roman"/>
              </a:rPr>
              <a:t>Vineet Singh | CodSoft Frontend Development Internship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2" descr=""/>
          <p:cNvPicPr/>
          <p:nvPr/>
        </p:nvPicPr>
        <p:blipFill>
          <a:blip r:embed="rId1"/>
          <a:stretch/>
        </p:blipFill>
        <p:spPr>
          <a:xfrm>
            <a:off x="-101520" y="-76320"/>
            <a:ext cx="16458840" cy="937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Picture 3" descr=""/>
          <p:cNvPicPr/>
          <p:nvPr/>
        </p:nvPicPr>
        <p:blipFill>
          <a:blip r:embed="rId2"/>
          <a:stretch/>
        </p:blipFill>
        <p:spPr>
          <a:xfrm>
            <a:off x="-25560" y="-25560"/>
            <a:ext cx="16306560" cy="919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extBox 4"/>
          <p:cNvSpPr/>
          <p:nvPr/>
        </p:nvSpPr>
        <p:spPr>
          <a:xfrm>
            <a:off x="965160" y="529560"/>
            <a:ext cx="9873720" cy="83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3550" spc="-88" strike="noStrike" u="none">
                <a:solidFill>
                  <a:srgbClr val="162746"/>
                </a:solidFill>
                <a:uFillTx/>
                <a:latin typeface="Times New Roman"/>
              </a:rPr>
              <a:t>GitHub Repository</a:t>
            </a:r>
            <a:endParaRPr b="0" lang="en-US" sz="35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5791"/>
              </a:spcBef>
              <a:tabLst>
                <a:tab algn="l" pos="0"/>
              </a:tabLst>
            </a:pPr>
            <a:r>
              <a:rPr b="0" lang="en-US" sz="2600" spc="9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9" strike="noStrike" u="none">
                <a:solidFill>
                  <a:srgbClr val="232328"/>
                </a:solidFill>
                <a:uFillTx/>
                <a:latin typeface="Times New Roman"/>
              </a:rPr>
              <a:t>CodSoft project repository: github.com/Vineets3119/codsoft_tasks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-65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65" strike="noStrike" u="none">
                <a:solidFill>
                  <a:srgbClr val="232328"/>
                </a:solidFill>
                <a:uFillTx/>
                <a:latin typeface="Times New Roman"/>
              </a:rPr>
              <a:t>Task 1 — Task-1-To-Do-List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-65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65" strike="noStrike" u="none">
                <a:solidFill>
                  <a:srgbClr val="232328"/>
                </a:solidFill>
                <a:uFillTx/>
                <a:latin typeface="Times New Roman"/>
              </a:rPr>
              <a:t>Task 2 — Task-2-Expense-Tracker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-65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65" strike="noStrike" u="none">
                <a:solidFill>
                  <a:srgbClr val="232328"/>
                </a:solidFill>
                <a:uFillTx/>
                <a:latin typeface="Times New Roman"/>
              </a:rPr>
              <a:t>Task 3 — Task-3-Blog-Website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-23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23" strike="noStrike" u="none">
                <a:solidFill>
                  <a:srgbClr val="232328"/>
                </a:solidFill>
                <a:uFillTx/>
                <a:latin typeface="Times New Roman"/>
              </a:rPr>
              <a:t>Live demonstrations deployed through GitHub Pages.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61"/>
              </a:lnSpc>
              <a:spcBef>
                <a:spcPts val="33778"/>
              </a:spcBef>
              <a:tabLst>
                <a:tab algn="l" pos="0"/>
              </a:tabLst>
            </a:pPr>
            <a:r>
              <a:rPr b="0" lang="en-US" sz="1150" spc="-9" strike="noStrike" u="none">
                <a:solidFill>
                  <a:srgbClr val="2166aa"/>
                </a:solidFill>
                <a:uFillTx/>
                <a:latin typeface="Times New Roman"/>
              </a:rPr>
              <a:t>Vineet Singh | CodSoft Frontend Development Internship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2" descr=""/>
          <p:cNvPicPr/>
          <p:nvPr/>
        </p:nvPicPr>
        <p:blipFill>
          <a:blip r:embed="rId1"/>
          <a:stretch/>
        </p:blipFill>
        <p:spPr>
          <a:xfrm>
            <a:off x="-101520" y="-76320"/>
            <a:ext cx="16458840" cy="937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Picture 3" descr=""/>
          <p:cNvPicPr/>
          <p:nvPr/>
        </p:nvPicPr>
        <p:blipFill>
          <a:blip r:embed="rId2"/>
          <a:stretch/>
        </p:blipFill>
        <p:spPr>
          <a:xfrm>
            <a:off x="-25560" y="-25560"/>
            <a:ext cx="16306560" cy="919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Box 4"/>
          <p:cNvSpPr/>
          <p:nvPr/>
        </p:nvSpPr>
        <p:spPr>
          <a:xfrm>
            <a:off x="965160" y="529560"/>
            <a:ext cx="14019120" cy="83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3550" spc="17" strike="noStrike" u="none">
                <a:solidFill>
                  <a:srgbClr val="162746"/>
                </a:solidFill>
                <a:uFillTx/>
                <a:latin typeface="Times New Roman"/>
              </a:rPr>
              <a:t>Conclusion</a:t>
            </a:r>
            <a:endParaRPr b="0" lang="en-US" sz="35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5791"/>
              </a:spcBef>
              <a:tabLst>
                <a:tab algn="l" pos="0"/>
              </a:tabLst>
            </a:pPr>
            <a:r>
              <a:rPr b="0" lang="en-US" sz="2600" spc="-9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9" strike="noStrike" u="none">
                <a:solidFill>
                  <a:srgbClr val="232328"/>
                </a:solidFill>
                <a:uFillTx/>
                <a:latin typeface="Times New Roman"/>
              </a:rPr>
              <a:t>The internship converted frontend concepts into practical working applications.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-11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11" strike="noStrike" u="none">
                <a:solidFill>
                  <a:srgbClr val="232328"/>
                </a:solidFill>
                <a:uFillTx/>
                <a:latin typeface="Times New Roman"/>
              </a:rPr>
              <a:t>The three projects strengthened responsive design, JavaScript, DOM manipulation and client-side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31"/>
              </a:spcBef>
              <a:tabLst>
                <a:tab algn="l" pos="0"/>
              </a:tabLst>
            </a:pPr>
            <a:r>
              <a:rPr b="0" lang="en-US" sz="2600" spc="65" strike="noStrike" u="none">
                <a:solidFill>
                  <a:srgbClr val="232328"/>
                </a:solidFill>
                <a:uFillTx/>
                <a:latin typeface="Times New Roman"/>
              </a:rPr>
              <a:t>persistence skills.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-9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9" strike="noStrike" u="none">
                <a:solidFill>
                  <a:srgbClr val="232328"/>
                </a:solidFill>
                <a:uFillTx/>
                <a:latin typeface="Times New Roman"/>
              </a:rPr>
              <a:t>The experience provided a foundation for building more advanced web applications.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61"/>
              </a:lnSpc>
              <a:spcBef>
                <a:spcPts val="39280"/>
              </a:spcBef>
              <a:tabLst>
                <a:tab algn="l" pos="0"/>
              </a:tabLst>
            </a:pPr>
            <a:r>
              <a:rPr b="0" lang="en-US" sz="1150" spc="-9" strike="noStrike" u="none">
                <a:solidFill>
                  <a:srgbClr val="2166aa"/>
                </a:solidFill>
                <a:uFillTx/>
                <a:latin typeface="Times New Roman"/>
              </a:rPr>
              <a:t>Vineet Singh | CodSoft Frontend Development Internship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2" descr=""/>
          <p:cNvPicPr/>
          <p:nvPr/>
        </p:nvPicPr>
        <p:blipFill>
          <a:blip r:embed="rId1"/>
          <a:stretch/>
        </p:blipFill>
        <p:spPr>
          <a:xfrm>
            <a:off x="-101520" y="-76320"/>
            <a:ext cx="16458840" cy="937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Picture 3" descr=""/>
          <p:cNvPicPr/>
          <p:nvPr/>
        </p:nvPicPr>
        <p:blipFill>
          <a:blip r:embed="rId2"/>
          <a:stretch/>
        </p:blipFill>
        <p:spPr>
          <a:xfrm>
            <a:off x="-25560" y="-25560"/>
            <a:ext cx="16306560" cy="919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Box 4"/>
          <p:cNvSpPr/>
          <p:nvPr/>
        </p:nvSpPr>
        <p:spPr>
          <a:xfrm>
            <a:off x="965160" y="529560"/>
            <a:ext cx="6650640" cy="83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3550" spc="-88" strike="noStrike" u="none">
                <a:solidFill>
                  <a:srgbClr val="162746"/>
                </a:solidFill>
                <a:uFillTx/>
                <a:latin typeface="Times New Roman"/>
              </a:rPr>
              <a:t>Thank You</a:t>
            </a:r>
            <a:endParaRPr b="0" lang="en-US" sz="35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5791"/>
              </a:spcBef>
              <a:tabLst>
                <a:tab algn="l" pos="0"/>
              </a:tabLst>
            </a:pPr>
            <a:r>
              <a:rPr b="0" lang="en-US" sz="2600" spc="-65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65" strike="noStrike" u="none">
                <a:solidFill>
                  <a:srgbClr val="232328"/>
                </a:solidFill>
                <a:uFillTx/>
                <a:latin typeface="Times New Roman"/>
              </a:rPr>
              <a:t>Thank you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-65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65" strike="noStrike" u="none">
                <a:solidFill>
                  <a:srgbClr val="232328"/>
                </a:solidFill>
                <a:uFillTx/>
                <a:latin typeface="Times New Roman"/>
              </a:rPr>
              <a:t>VINEET SINGH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-6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6" strike="noStrike" u="none">
                <a:solidFill>
                  <a:srgbClr val="232328"/>
                </a:solidFill>
                <a:uFillTx/>
                <a:latin typeface="Times New Roman"/>
              </a:rPr>
              <a:t>B.Tech CSE – 3rd Semester | 2CSE35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4160" defTabSz="914400">
              <a:lnSpc>
                <a:spcPct val="100000"/>
              </a:lnSpc>
              <a:spcBef>
                <a:spcPts val="1230"/>
              </a:spcBef>
              <a:tabLst>
                <a:tab algn="l" pos="0"/>
              </a:tabLst>
            </a:pPr>
            <a:r>
              <a:rPr b="0" lang="en-US" sz="2600" spc="-65" strike="noStrike" u="none">
                <a:solidFill>
                  <a:srgbClr val="232328"/>
                </a:solidFill>
                <a:uFillTx/>
                <a:latin typeface="Times New Roman"/>
              </a:rPr>
              <a:t>• </a:t>
            </a:r>
            <a:r>
              <a:rPr b="0" lang="en-US" sz="2600" spc="-65" strike="noStrike" u="none">
                <a:solidFill>
                  <a:srgbClr val="232328"/>
                </a:solidFill>
                <a:uFillTx/>
                <a:latin typeface="Times New Roman"/>
              </a:rPr>
              <a:t>CodSoft — Frontend Development Internship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61"/>
              </a:lnSpc>
              <a:spcBef>
                <a:spcPts val="38078"/>
              </a:spcBef>
              <a:tabLst>
                <a:tab algn="l" pos="0"/>
              </a:tabLst>
            </a:pPr>
            <a:r>
              <a:rPr b="0" lang="en-US" sz="1150" spc="-9" strike="noStrike" u="none">
                <a:solidFill>
                  <a:srgbClr val="2166aa"/>
                </a:solidFill>
                <a:uFillTx/>
                <a:latin typeface="Times New Roman"/>
              </a:rPr>
              <a:t>Vineet Singh | CodSoft Frontend Development Internship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LibreOfficeDev/24.8.7.2.0$Android_AARCH64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2026-08-30T20:31:23Z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